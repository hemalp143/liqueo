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549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Liqueo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>
                <a:solidFill>
                  <a:srgbClr val="FFFFFF"/>
                </a:solidFill>
              </a:defRPr>
            </a:pPr>
            <a:r>
              <a:t>Knowledge Discovery &amp; Reuse for Financial Consultants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5490"/>
          </a:solidFill>
          <a:ln>
            <a:solidFill>
              <a:srgbClr val="1A5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005840"/>
            <a:ext cx="859536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✓ 60x faster search than manual review</a:t>
            </a:r>
          </a:p>
          <a:p>
            <a:pPr>
              <a:spcBef>
                <a:spcPts val="600"/>
              </a:spcBef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✓ $3.4M - $5.3M annual business value</a:t>
            </a:r>
          </a:p>
          <a:p>
            <a:pPr>
              <a:spcBef>
                <a:spcPts val="600"/>
              </a:spcBef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✓ Immediate ROI (2-4 weeks payback)</a:t>
            </a:r>
          </a:p>
          <a:p>
            <a:pPr>
              <a:spcBef>
                <a:spcPts val="600"/>
              </a:spcBef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✓ &lt;30 min learning curve, no training required</a:t>
            </a:r>
          </a:p>
          <a:p>
            <a:pPr>
              <a:spcBef>
                <a:spcPts val="600"/>
              </a:spcBef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✓ Semantic search + AI synthesis</a:t>
            </a:r>
          </a:p>
          <a:p>
            <a:pPr>
              <a:spcBef>
                <a:spcPts val="600"/>
              </a:spcBef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✓ Works with any API configuration</a:t>
            </a:r>
          </a:p>
          <a:p>
            <a:pPr>
              <a:spcBef>
                <a:spcPts val="600"/>
              </a:spcBef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✓ Local storage, no vendor lock-in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5490"/>
          </a:solidFill>
          <a:ln>
            <a:solidFill>
              <a:srgbClr val="1A5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Key Achievements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005840"/>
            <a:ext cx="859536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✓ Search Speed: 60x faster than manual</a:t>
            </a:r>
          </a:p>
          <a:p>
            <a:pPr>
              <a:spcBef>
                <a:spcPts val="600"/>
              </a:spcBef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✓ Accuracy: 85-95% semantic match quality</a:t>
            </a:r>
          </a:p>
          <a:p>
            <a:pPr>
              <a:spcBef>
                <a:spcPts val="600"/>
              </a:spcBef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✓ Formats: PDF, Word, Excel, CSV, Text</a:t>
            </a:r>
          </a:p>
          <a:p>
            <a:pPr>
              <a:spcBef>
                <a:spcPts val="600"/>
              </a:spcBef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✓ Modes: Full, Hybrid, Manual flexibility</a:t>
            </a:r>
          </a:p>
          <a:p>
            <a:pPr>
              <a:spcBef>
                <a:spcPts val="600"/>
              </a:spcBef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✓ Implementation: 2-4 hours setup time</a:t>
            </a:r>
          </a:p>
          <a:p>
            <a:pPr>
              <a:spcBef>
                <a:spcPts val="600"/>
              </a:spcBef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✓ Scalability: 10,000+ documents supported</a:t>
            </a:r>
          </a:p>
          <a:p>
            <a:pPr>
              <a:spcBef>
                <a:spcPts val="600"/>
              </a:spcBef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✓ Teams: 1-3 concurrent users, 100+ scalable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5490"/>
          </a:solidFill>
          <a:ln>
            <a:solidFill>
              <a:srgbClr val="1A5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005840"/>
            <a:ext cx="859536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💼 Consulting firms lose $3-5M annually due to inefficient knowledge management</a:t>
            </a:r>
          </a:p>
          <a:p>
            <a:pPr>
              <a:spcBef>
                <a:spcPts val="600"/>
              </a:spcBef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• 60% of time spent on research that's already been done</a:t>
            </a:r>
          </a:p>
          <a:p>
            <a:pPr>
              <a:spcBef>
                <a:spcPts val="600"/>
              </a:spcBef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• Documents buried in emails, drives, archives</a:t>
            </a:r>
          </a:p>
          <a:p>
            <a:pPr>
              <a:spcBef>
                <a:spcPts val="600"/>
              </a:spcBef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• 30-40% of insights lost when employees leave</a:t>
            </a:r>
          </a:p>
          <a:p>
            <a:pPr>
              <a:spcBef>
                <a:spcPts val="600"/>
              </a:spcBef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• New consultants take 2-3 months to onboard</a:t>
            </a:r>
          </a:p>
          <a:p>
            <a:pPr>
              <a:spcBef>
                <a:spcPts val="600"/>
              </a:spcBef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• Competitors respond faster to opportunities</a:t>
            </a:r>
          </a:p>
          <a:p>
            <a:pPr>
              <a:spcBef>
                <a:spcPts val="600"/>
              </a:spcBef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• No way to systematically reuse past learnings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5490"/>
          </a:solidFill>
          <a:ln>
            <a:solidFill>
              <a:srgbClr val="1A5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The Solution: Liqueo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005840"/>
            <a:ext cx="859536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🚀 AI-Powered Knowledge Discovery Platform</a:t>
            </a:r>
          </a:p>
          <a:p>
            <a:pPr>
              <a:spcBef>
                <a:spcPts val="600"/>
              </a:spcBef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• Semantic search using AI embeddings</a:t>
            </a:r>
          </a:p>
          <a:p>
            <a:pPr>
              <a:spcBef>
                <a:spcPts val="600"/>
              </a:spcBef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• Find similar engagements in seconds</a:t>
            </a:r>
          </a:p>
          <a:p>
            <a:pPr>
              <a:spcBef>
                <a:spcPts val="600"/>
              </a:spcBef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• Synthesize insights from past work</a:t>
            </a:r>
          </a:p>
          <a:p>
            <a:pPr>
              <a:spcBef>
                <a:spcPts val="600"/>
              </a:spcBef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• Analyze industry-specific patterns</a:t>
            </a:r>
          </a:p>
          <a:p>
            <a:pPr>
              <a:spcBef>
                <a:spcPts val="600"/>
              </a:spcBef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• Flexible deployment (Full/Hybrid/Manual modes)</a:t>
            </a:r>
          </a:p>
          <a:p>
            <a:pPr>
              <a:spcBef>
                <a:spcPts val="600"/>
              </a:spcBef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• Support for all consulting document types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5490"/>
          </a:solidFill>
          <a:ln>
            <a:solidFill>
              <a:srgbClr val="1A5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Core Feature 1: Semantic Search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005840"/>
            <a:ext cx="859536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🔍 Understand meaning, not just keywords</a:t>
            </a:r>
          </a:p>
          <a:p>
            <a:pPr>
              <a:spcBef>
                <a:spcPts val="600"/>
              </a:spcBef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Traditional Search: 'app development' → matches only exact words</a:t>
            </a:r>
          </a:p>
          <a:p>
            <a:pPr>
              <a:spcBef>
                <a:spcPts val="600"/>
              </a:spcBef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Semantic Search: 'app development' → also finds:</a:t>
            </a:r>
          </a:p>
          <a:p>
            <a:pPr>
              <a:spcBef>
                <a:spcPts val="600"/>
              </a:spcBef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  • Mobile application strategy</a:t>
            </a:r>
          </a:p>
          <a:p>
            <a:pPr>
              <a:spcBef>
                <a:spcPts val="600"/>
              </a:spcBef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  • Software platform development</a:t>
            </a:r>
          </a:p>
          <a:p>
            <a:pPr>
              <a:spcBef>
                <a:spcPts val="600"/>
              </a:spcBef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  • Digital product engineering</a:t>
            </a:r>
          </a:p>
          <a:p>
            <a:pPr>
              <a:spcBef>
                <a:spcPts val="600"/>
              </a:spcBef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Result: 85-95% accurate, 60x faster discovery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5490"/>
          </a:solidFill>
          <a:ln>
            <a:solidFill>
              <a:srgbClr val="1A5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Core Feature 2: Document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005840"/>
            <a:ext cx="859536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📄 Support for all consulting document types</a:t>
            </a:r>
          </a:p>
          <a:p>
            <a:pPr>
              <a:spcBef>
                <a:spcPts val="600"/>
              </a:spcBef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✓ PDF reports and presentations</a:t>
            </a:r>
          </a:p>
          <a:p>
            <a:pPr>
              <a:spcBef>
                <a:spcPts val="600"/>
              </a:spcBef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✓ Word documents and templates</a:t>
            </a:r>
          </a:p>
          <a:p>
            <a:pPr>
              <a:spcBef>
                <a:spcPts val="600"/>
              </a:spcBef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✓ Excel analysis and data</a:t>
            </a:r>
          </a:p>
          <a:p>
            <a:pPr>
              <a:spcBef>
                <a:spcPts val="600"/>
              </a:spcBef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✓ CSV import and analysis</a:t>
            </a:r>
          </a:p>
          <a:p>
            <a:pPr>
              <a:spcBef>
                <a:spcPts val="600"/>
              </a:spcBef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✓ Plain text notes and summaries</a:t>
            </a:r>
          </a:p>
          <a:p>
            <a:pPr>
              <a:spcBef>
                <a:spcPts val="600"/>
              </a:spcBef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✓ Multiple files per engagement</a:t>
            </a:r>
          </a:p>
          <a:p>
            <a:pPr>
              <a:spcBef>
                <a:spcPts val="600"/>
              </a:spcBef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✓ Automatic text extraction and indexing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5490"/>
          </a:solidFill>
          <a:ln>
            <a:solidFill>
              <a:srgbClr val="1A5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Core Features 3-6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005840"/>
            <a:ext cx="859536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💡 Intelligent Recommendations</a:t>
            </a:r>
          </a:p>
          <a:p>
            <a:pPr>
              <a:spcBef>
                <a:spcPts val="600"/>
              </a:spcBef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  → Suggest consulting approaches based on similar work</a:t>
            </a:r>
          </a:p>
          <a:p>
            <a:pPr>
              <a:spcBef>
                <a:spcPts val="600"/>
              </a:spcBef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📊 Industry Analytics</a:t>
            </a:r>
          </a:p>
          <a:p>
            <a:pPr>
              <a:spcBef>
                <a:spcPts val="600"/>
              </a:spcBef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  → Identify trends, challenges, success factors by sector</a:t>
            </a:r>
          </a:p>
          <a:p>
            <a:pPr>
              <a:spcBef>
                <a:spcPts val="600"/>
              </a:spcBef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🧠 Knowledge Synthesis</a:t>
            </a:r>
          </a:p>
          <a:p>
            <a:pPr>
              <a:spcBef>
                <a:spcPts val="600"/>
              </a:spcBef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  → AI-powered insights from engagement collections</a:t>
            </a:r>
          </a:p>
          <a:p>
            <a:pPr>
              <a:spcBef>
                <a:spcPts val="600"/>
              </a:spcBef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⚙️ Flexible Operating Modes</a:t>
            </a:r>
          </a:p>
          <a:p>
            <a:pPr>
              <a:spcBef>
                <a:spcPts val="600"/>
              </a:spcBef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  → Full (both APIs), Hybrid (one API), Manual (keyword only)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5490"/>
          </a:solidFill>
          <a:ln>
            <a:solidFill>
              <a:srgbClr val="1A5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005840"/>
            <a:ext cx="859536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🏗️ Layered Microservices Architecture</a:t>
            </a:r>
          </a:p>
          <a:p>
            <a:pPr>
              <a:spcBef>
                <a:spcPts val="600"/>
              </a:spcBef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PRESENTATION LAYER: Streamlit UI + CLI</a:t>
            </a:r>
          </a:p>
          <a:p>
            <a:pPr>
              <a:spcBef>
                <a:spcPts val="600"/>
              </a:spcBef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  ↓</a:t>
            </a:r>
          </a:p>
          <a:p>
            <a:pPr>
              <a:spcBef>
                <a:spcPts val="600"/>
              </a:spcBef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BUSINESS LOGIC: Workflow engine, Recommendations</a:t>
            </a:r>
          </a:p>
          <a:p>
            <a:pPr>
              <a:spcBef>
                <a:spcPts val="600"/>
              </a:spcBef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  ↓</a:t>
            </a:r>
          </a:p>
          <a:p>
            <a:pPr>
              <a:spcBef>
                <a:spcPts val="600"/>
              </a:spcBef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SERVICE LAYER: Embeddings, LLM, Text Processing</a:t>
            </a:r>
          </a:p>
          <a:p>
            <a:pPr>
              <a:spcBef>
                <a:spcPts val="600"/>
              </a:spcBef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  ↓</a:t>
            </a:r>
          </a:p>
          <a:p>
            <a:pPr>
              <a:spcBef>
                <a:spcPts val="600"/>
              </a:spcBef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DATA LAYER: JSON storage, Local filesystem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5490"/>
          </a:solidFill>
          <a:ln>
            <a:solidFill>
              <a:srgbClr val="1A5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Home Screen &amp; Navigation</a:t>
            </a:r>
          </a:p>
        </p:txBody>
      </p:sp>
      <p:pic>
        <p:nvPicPr>
          <p:cNvPr id="4" name="Picture 3" descr="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05840"/>
            <a:ext cx="4114800" cy="234834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663440" y="1005840"/>
            <a:ext cx="420624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600"/>
              </a:spcAft>
              <a:defRPr sz="1200">
                <a:solidFill>
                  <a:srgbClr val="333333"/>
                </a:solidFill>
              </a:defRPr>
            </a:pPr>
            <a:r>
              <a:t>Professional interface with intuitive navigation</a:t>
            </a:r>
          </a:p>
          <a:p>
            <a:pPr>
              <a:spcBef>
                <a:spcPts val="400"/>
              </a:spcBef>
              <a:spcAft>
                <a:spcPts val="600"/>
              </a:spcAft>
              <a:defRPr sz="1200">
                <a:solidFill>
                  <a:srgbClr val="333333"/>
                </a:solidFill>
              </a:defRPr>
            </a:pPr>
            <a:r>
              <a:t>• Add New Engagement tab</a:t>
            </a:r>
          </a:p>
          <a:p>
            <a:pPr>
              <a:spcBef>
                <a:spcPts val="400"/>
              </a:spcBef>
              <a:spcAft>
                <a:spcPts val="600"/>
              </a:spcAft>
              <a:defRPr sz="1200">
                <a:solidFill>
                  <a:srgbClr val="333333"/>
                </a:solidFill>
              </a:defRPr>
            </a:pPr>
            <a:r>
              <a:t>• Search Knowledge Base tab</a:t>
            </a:r>
          </a:p>
          <a:p>
            <a:pPr>
              <a:spcBef>
                <a:spcPts val="400"/>
              </a:spcBef>
              <a:spcAft>
                <a:spcPts val="600"/>
              </a:spcAft>
              <a:defRPr sz="1200">
                <a:solidFill>
                  <a:srgbClr val="333333"/>
                </a:solidFill>
              </a:defRPr>
            </a:pPr>
            <a:r>
              <a:t>• Recommendations tab</a:t>
            </a:r>
          </a:p>
          <a:p>
            <a:pPr>
              <a:spcBef>
                <a:spcPts val="400"/>
              </a:spcBef>
              <a:spcAft>
                <a:spcPts val="600"/>
              </a:spcAft>
              <a:defRPr sz="1200">
                <a:solidFill>
                  <a:srgbClr val="333333"/>
                </a:solidFill>
              </a:defRPr>
            </a:pPr>
            <a:r>
              <a:t>• Industry Analysis tab</a:t>
            </a:r>
          </a:p>
          <a:p>
            <a:pPr>
              <a:spcBef>
                <a:spcPts val="400"/>
              </a:spcBef>
              <a:spcAft>
                <a:spcPts val="600"/>
              </a:spcAft>
              <a:defRPr sz="1200">
                <a:solidFill>
                  <a:srgbClr val="333333"/>
                </a:solidFill>
              </a:defRPr>
            </a:pPr>
            <a:r>
              <a:t>• Version tracking (v1.0.0)</a:t>
            </a:r>
          </a:p>
          <a:p>
            <a:pPr>
              <a:spcBef>
                <a:spcPts val="400"/>
              </a:spcBef>
              <a:spcAft>
                <a:spcPts val="600"/>
              </a:spcAft>
              <a:defRPr sz="1200">
                <a:solidFill>
                  <a:srgbClr val="333333"/>
                </a:solidFill>
              </a:defRPr>
            </a:pPr>
            <a:r>
              <a:t>• Clean, professional branding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5490"/>
          </a:solidFill>
          <a:ln>
            <a:solidFill>
              <a:srgbClr val="1A5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Adding Engagements: Step 1</a:t>
            </a:r>
          </a:p>
        </p:txBody>
      </p:sp>
      <p:pic>
        <p:nvPicPr>
          <p:cNvPr id="4" name="Picture 3" descr="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05840"/>
            <a:ext cx="4114800" cy="232200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663440" y="1005840"/>
            <a:ext cx="420624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600"/>
              </a:spcAft>
              <a:defRPr sz="1200">
                <a:solidFill>
                  <a:srgbClr val="333333"/>
                </a:solidFill>
              </a:defRPr>
            </a:pPr>
            <a:r>
              <a:t>Enter engagement metadata</a:t>
            </a:r>
          </a:p>
          <a:p>
            <a:pPr>
              <a:spcBef>
                <a:spcPts val="400"/>
              </a:spcBef>
              <a:spcAft>
                <a:spcPts val="600"/>
              </a:spcAft>
              <a:defRPr sz="1200">
                <a:solidFill>
                  <a:srgbClr val="333333"/>
                </a:solidFill>
              </a:defRPr>
            </a:pPr>
            <a:r>
              <a:t>• Engagement Title</a:t>
            </a:r>
          </a:p>
          <a:p>
            <a:pPr>
              <a:spcBef>
                <a:spcPts val="400"/>
              </a:spcBef>
              <a:spcAft>
                <a:spcPts val="600"/>
              </a:spcAft>
              <a:defRPr sz="1200">
                <a:solidFill>
                  <a:srgbClr val="333333"/>
                </a:solidFill>
              </a:defRPr>
            </a:pPr>
            <a:r>
              <a:t>• Industry classification</a:t>
            </a:r>
          </a:p>
          <a:p>
            <a:pPr>
              <a:spcBef>
                <a:spcPts val="400"/>
              </a:spcBef>
              <a:spcAft>
                <a:spcPts val="600"/>
              </a:spcAft>
              <a:defRPr sz="1200">
                <a:solidFill>
                  <a:srgbClr val="333333"/>
                </a:solidFill>
              </a:defRPr>
            </a:pPr>
            <a:r>
              <a:t>• Transaction Type</a:t>
            </a:r>
          </a:p>
          <a:p>
            <a:pPr>
              <a:spcBef>
                <a:spcPts val="400"/>
              </a:spcBef>
              <a:spcAft>
                <a:spcPts val="600"/>
              </a:spcAft>
              <a:defRPr sz="1200">
                <a:solidFill>
                  <a:srgbClr val="333333"/>
                </a:solidFill>
              </a:defRPr>
            </a:pPr>
            <a:r>
              <a:t>• Engagement Value ($M)</a:t>
            </a:r>
          </a:p>
          <a:p>
            <a:pPr>
              <a:spcBef>
                <a:spcPts val="400"/>
              </a:spcBef>
              <a:spcAft>
                <a:spcPts val="600"/>
              </a:spcAft>
              <a:defRPr sz="1200">
                <a:solidFill>
                  <a:srgbClr val="333333"/>
                </a:solidFill>
              </a:defRPr>
            </a:pPr>
            <a:r>
              <a:t>• Duration (months)</a:t>
            </a:r>
          </a:p>
          <a:p>
            <a:pPr>
              <a:spcBef>
                <a:spcPts val="400"/>
              </a:spcBef>
              <a:spcAft>
                <a:spcPts val="600"/>
              </a:spcAft>
              <a:defRPr sz="1200">
                <a:solidFill>
                  <a:srgbClr val="333333"/>
                </a:solidFill>
              </a:defRPr>
            </a:pPr>
            <a:r>
              <a:t>• Client Name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5490"/>
          </a:solidFill>
          <a:ln>
            <a:solidFill>
              <a:srgbClr val="1A5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Adding Engagements: Step 2</a:t>
            </a:r>
          </a:p>
        </p:txBody>
      </p:sp>
      <p:pic>
        <p:nvPicPr>
          <p:cNvPr id="4" name="Picture 3" descr="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05840"/>
            <a:ext cx="4114800" cy="255865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663440" y="1005840"/>
            <a:ext cx="420624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600"/>
              </a:spcAft>
              <a:defRPr sz="1200">
                <a:solidFill>
                  <a:srgbClr val="333333"/>
                </a:solidFill>
              </a:defRPr>
            </a:pPr>
            <a:r>
              <a:t>Upload engagement content</a:t>
            </a:r>
          </a:p>
          <a:p>
            <a:pPr>
              <a:spcBef>
                <a:spcPts val="400"/>
              </a:spcBef>
              <a:spcAft>
                <a:spcPts val="600"/>
              </a:spcAft>
              <a:defRPr sz="1200">
                <a:solidFill>
                  <a:srgbClr val="333333"/>
                </a:solidFill>
              </a:defRPr>
            </a:pPr>
            <a:r>
              <a:t>• Local file upload</a:t>
            </a:r>
          </a:p>
          <a:p>
            <a:pPr>
              <a:spcBef>
                <a:spcPts val="400"/>
              </a:spcBef>
              <a:spcAft>
                <a:spcPts val="600"/>
              </a:spcAft>
              <a:defRPr sz="1200">
                <a:solidFill>
                  <a:srgbClr val="333333"/>
                </a:solidFill>
              </a:defRPr>
            </a:pPr>
            <a:r>
              <a:t>• Cloud URL import</a:t>
            </a:r>
          </a:p>
          <a:p>
            <a:pPr>
              <a:spcBef>
                <a:spcPts val="400"/>
              </a:spcBef>
              <a:spcAft>
                <a:spcPts val="600"/>
              </a:spcAft>
              <a:defRPr sz="1200">
                <a:solidFill>
                  <a:srgbClr val="333333"/>
                </a:solidFill>
              </a:defRPr>
            </a:pPr>
            <a:r>
              <a:t>• Multiple documents</a:t>
            </a:r>
          </a:p>
          <a:p>
            <a:pPr>
              <a:spcBef>
                <a:spcPts val="400"/>
              </a:spcBef>
              <a:spcAft>
                <a:spcPts val="600"/>
              </a:spcAft>
              <a:defRPr sz="1200">
                <a:solidFill>
                  <a:srgbClr val="333333"/>
                </a:solidFill>
              </a:defRPr>
            </a:pPr>
            <a:r>
              <a:t>• Auto text extraction</a:t>
            </a:r>
          </a:p>
          <a:p>
            <a:pPr>
              <a:spcBef>
                <a:spcPts val="400"/>
              </a:spcBef>
              <a:spcAft>
                <a:spcPts val="600"/>
              </a:spcAft>
              <a:defRPr sz="1200">
                <a:solidFill>
                  <a:srgbClr val="333333"/>
                </a:solidFill>
              </a:defRPr>
            </a:pPr>
            <a:r>
              <a:t>• Semantic indexing</a:t>
            </a:r>
          </a:p>
          <a:p>
            <a:pPr>
              <a:spcBef>
                <a:spcPts val="400"/>
              </a:spcBef>
              <a:spcAft>
                <a:spcPts val="600"/>
              </a:spcAft>
              <a:defRPr sz="1200">
                <a:solidFill>
                  <a:srgbClr val="333333"/>
                </a:solidFill>
              </a:defRPr>
            </a:pPr>
            <a:r>
              <a:t>• Instant availability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5490"/>
          </a:solidFill>
          <a:ln>
            <a:solidFill>
              <a:srgbClr val="1A5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Searching Knowledge Base</a:t>
            </a:r>
          </a:p>
        </p:txBody>
      </p:sp>
      <p:pic>
        <p:nvPicPr>
          <p:cNvPr id="4" name="Picture 3" descr="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05840"/>
            <a:ext cx="4114800" cy="255865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663440" y="1005840"/>
            <a:ext cx="420624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600"/>
              </a:spcAft>
              <a:defRPr sz="1200">
                <a:solidFill>
                  <a:srgbClr val="333333"/>
                </a:solidFill>
              </a:defRPr>
            </a:pPr>
            <a:r>
              <a:t>Find relevant past engagements instantly</a:t>
            </a:r>
          </a:p>
          <a:p>
            <a:pPr>
              <a:spcBef>
                <a:spcPts val="400"/>
              </a:spcBef>
              <a:spcAft>
                <a:spcPts val="600"/>
              </a:spcAft>
              <a:defRPr sz="1200">
                <a:solidFill>
                  <a:srgbClr val="333333"/>
                </a:solidFill>
              </a:defRPr>
            </a:pPr>
            <a:r>
              <a:t>• Natural language queries</a:t>
            </a:r>
          </a:p>
          <a:p>
            <a:pPr>
              <a:spcBef>
                <a:spcPts val="400"/>
              </a:spcBef>
              <a:spcAft>
                <a:spcPts val="600"/>
              </a:spcAft>
              <a:defRPr sz="1200">
                <a:solidFill>
                  <a:srgbClr val="333333"/>
                </a:solidFill>
              </a:defRPr>
            </a:pPr>
            <a:r>
              <a:t>• Adjustable result count (1-5)</a:t>
            </a:r>
          </a:p>
          <a:p>
            <a:pPr>
              <a:spcBef>
                <a:spcPts val="400"/>
              </a:spcBef>
              <a:spcAft>
                <a:spcPts val="600"/>
              </a:spcAft>
              <a:defRPr sz="1200">
                <a:solidFill>
                  <a:srgbClr val="333333"/>
                </a:solidFill>
              </a:defRPr>
            </a:pPr>
            <a:r>
              <a:t>• Optional industry filtering</a:t>
            </a:r>
          </a:p>
          <a:p>
            <a:pPr>
              <a:spcBef>
                <a:spcPts val="400"/>
              </a:spcBef>
              <a:spcAft>
                <a:spcPts val="600"/>
              </a:spcAft>
              <a:defRPr sz="1200">
                <a:solidFill>
                  <a:srgbClr val="333333"/>
                </a:solidFill>
              </a:defRPr>
            </a:pPr>
            <a:r>
              <a:t>• Relevance scoring (0-100%)</a:t>
            </a:r>
          </a:p>
          <a:p>
            <a:pPr>
              <a:spcBef>
                <a:spcPts val="400"/>
              </a:spcBef>
              <a:spcAft>
                <a:spcPts val="600"/>
              </a:spcAft>
              <a:defRPr sz="1200">
                <a:solidFill>
                  <a:srgbClr val="333333"/>
                </a:solidFill>
              </a:defRPr>
            </a:pPr>
            <a:r>
              <a:t>• Ranked results display</a:t>
            </a:r>
          </a:p>
          <a:p>
            <a:pPr>
              <a:spcBef>
                <a:spcPts val="400"/>
              </a:spcBef>
              <a:spcAft>
                <a:spcPts val="600"/>
              </a:spcAft>
              <a:defRPr sz="1200">
                <a:solidFill>
                  <a:srgbClr val="333333"/>
                </a:solidFill>
              </a:defRPr>
            </a:pPr>
            <a:r>
              <a:t>• One-click detail view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5490"/>
          </a:solidFill>
          <a:ln>
            <a:solidFill>
              <a:srgbClr val="1A5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Industry Analysis</a:t>
            </a:r>
          </a:p>
        </p:txBody>
      </p:sp>
      <p:pic>
        <p:nvPicPr>
          <p:cNvPr id="4" name="Picture 3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05840"/>
            <a:ext cx="4114800" cy="232368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663440" y="1005840"/>
            <a:ext cx="420624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600"/>
              </a:spcAft>
              <a:defRPr sz="1200">
                <a:solidFill>
                  <a:srgbClr val="333333"/>
                </a:solidFill>
              </a:defRPr>
            </a:pPr>
            <a:r>
              <a:t>Synthesize industry-specific patterns</a:t>
            </a:r>
          </a:p>
          <a:p>
            <a:pPr>
              <a:spcBef>
                <a:spcPts val="400"/>
              </a:spcBef>
              <a:spcAft>
                <a:spcPts val="600"/>
              </a:spcAft>
              <a:defRPr sz="1200">
                <a:solidFill>
                  <a:srgbClr val="333333"/>
                </a:solidFill>
              </a:defRPr>
            </a:pPr>
            <a:r>
              <a:t>• Market trends and activity</a:t>
            </a:r>
          </a:p>
          <a:p>
            <a:pPr>
              <a:spcBef>
                <a:spcPts val="400"/>
              </a:spcBef>
              <a:spcAft>
                <a:spcPts val="600"/>
              </a:spcAft>
              <a:defRPr sz="1200">
                <a:solidFill>
                  <a:srgbClr val="333333"/>
                </a:solidFill>
              </a:defRPr>
            </a:pPr>
            <a:r>
              <a:t>• Common challenges</a:t>
            </a:r>
          </a:p>
          <a:p>
            <a:pPr>
              <a:spcBef>
                <a:spcPts val="400"/>
              </a:spcBef>
              <a:spcAft>
                <a:spcPts val="600"/>
              </a:spcAft>
              <a:defRPr sz="1200">
                <a:solidFill>
                  <a:srgbClr val="333333"/>
                </a:solidFill>
              </a:defRPr>
            </a:pPr>
            <a:r>
              <a:t>• Success factors and approaches</a:t>
            </a:r>
          </a:p>
          <a:p>
            <a:pPr>
              <a:spcBef>
                <a:spcPts val="400"/>
              </a:spcBef>
              <a:spcAft>
                <a:spcPts val="600"/>
              </a:spcAft>
              <a:defRPr sz="1200">
                <a:solidFill>
                  <a:srgbClr val="333333"/>
                </a:solidFill>
              </a:defRPr>
            </a:pPr>
            <a:r>
              <a:t>• Future outlook and opportunities</a:t>
            </a:r>
          </a:p>
          <a:p>
            <a:pPr>
              <a:spcBef>
                <a:spcPts val="400"/>
              </a:spcBef>
              <a:spcAft>
                <a:spcPts val="600"/>
              </a:spcAft>
              <a:defRPr sz="1200">
                <a:solidFill>
                  <a:srgbClr val="333333"/>
                </a:solidFill>
              </a:defRPr>
            </a:pPr>
            <a:r>
              <a:t>• Engagement timeline patterns</a:t>
            </a:r>
          </a:p>
          <a:p>
            <a:pPr>
              <a:spcBef>
                <a:spcPts val="400"/>
              </a:spcBef>
              <a:spcAft>
                <a:spcPts val="600"/>
              </a:spcAft>
              <a:defRPr sz="1200">
                <a:solidFill>
                  <a:srgbClr val="333333"/>
                </a:solidFill>
              </a:defRPr>
            </a:pPr>
            <a:r>
              <a:t>• Sector-specific insights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5490"/>
          </a:solidFill>
          <a:ln>
            <a:solidFill>
              <a:srgbClr val="1A5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Operating Modes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005840"/>
            <a:ext cx="859536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🔧 Flexible deployment to fit any scenario</a:t>
            </a:r>
          </a:p>
          <a:p>
            <a:pPr>
              <a:spcBef>
                <a:spcPts val="600"/>
              </a:spcBef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FULL MODE: OpenAI + Anthropic APIs</a:t>
            </a:r>
          </a:p>
          <a:p>
            <a:pPr>
              <a:spcBef>
                <a:spcPts val="600"/>
              </a:spcBef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  → Maximum capability: Search + Synthesis + Analysis</a:t>
            </a:r>
          </a:p>
          <a:p>
            <a:pPr>
              <a:spcBef>
                <a:spcPts val="600"/>
              </a:spcBef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HYBRID MODE: Single API</a:t>
            </a:r>
          </a:p>
          <a:p>
            <a:pPr>
              <a:spcBef>
                <a:spcPts val="600"/>
              </a:spcBef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  → Balanced features: Search OR Synthesis</a:t>
            </a:r>
          </a:p>
          <a:p>
            <a:pPr>
              <a:spcBef>
                <a:spcPts val="600"/>
              </a:spcBef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MANUAL MODE: No APIs</a:t>
            </a:r>
          </a:p>
          <a:p>
            <a:pPr>
              <a:spcBef>
                <a:spcPts val="600"/>
              </a:spcBef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  → Keyword search only, no vendor dependency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5490"/>
          </a:solidFill>
          <a:ln>
            <a:solidFill>
              <a:srgbClr val="1A5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Quick Start: 5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005840"/>
            <a:ext cx="859536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Get productive in minutes, not days</a:t>
            </a:r>
          </a:p>
          <a:p>
            <a:pPr>
              <a:spcBef>
                <a:spcPts val="600"/>
              </a:spcBef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1️⃣  Clone repository</a:t>
            </a:r>
          </a:p>
          <a:p>
            <a:pPr>
              <a:spcBef>
                <a:spcPts val="600"/>
              </a:spcBef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2️⃣  Install dependencies (pip install)</a:t>
            </a:r>
          </a:p>
          <a:p>
            <a:pPr>
              <a:spcBef>
                <a:spcPts val="600"/>
              </a:spcBef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3️⃣  Configure API keys (optional)</a:t>
            </a:r>
          </a:p>
          <a:p>
            <a:pPr>
              <a:spcBef>
                <a:spcPts val="600"/>
              </a:spcBef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4️⃣  Launch app (streamlit run app.py)</a:t>
            </a:r>
          </a:p>
          <a:p>
            <a:pPr>
              <a:spcBef>
                <a:spcPts val="600"/>
              </a:spcBef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5️⃣  Add engagement and search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5490"/>
          </a:solidFill>
          <a:ln>
            <a:solidFill>
              <a:srgbClr val="1A5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Implementation Timeline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005840"/>
            <a:ext cx="859536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Week 1: Pilot setup and testing</a:t>
            </a:r>
          </a:p>
          <a:p>
            <a:pPr>
              <a:spcBef>
                <a:spcPts val="600"/>
              </a:spcBef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  → Install, configure, test with 5-10 engagements</a:t>
            </a:r>
          </a:p>
          <a:p>
            <a:pPr>
              <a:spcBef>
                <a:spcPts val="600"/>
              </a:spcBef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Week 2: Small team rollout (3-5 users)</a:t>
            </a:r>
          </a:p>
          <a:p>
            <a:pPr>
              <a:spcBef>
                <a:spcPts val="600"/>
              </a:spcBef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  → Train power users, establish standards</a:t>
            </a:r>
          </a:p>
          <a:p>
            <a:pPr>
              <a:spcBef>
                <a:spcPts val="600"/>
              </a:spcBef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Weeks 3-4: Department deployment (20-30 users)</a:t>
            </a:r>
          </a:p>
          <a:p>
            <a:pPr>
              <a:spcBef>
                <a:spcPts val="600"/>
              </a:spcBef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  → Full training, governance, knowledge base expansion</a:t>
            </a:r>
          </a:p>
          <a:p>
            <a:pPr>
              <a:spcBef>
                <a:spcPts val="600"/>
              </a:spcBef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Month 2+: Firm-wide rollout and optimization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5490"/>
          </a:solidFill>
          <a:ln>
            <a:solidFill>
              <a:srgbClr val="1A5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Best Practices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005840"/>
            <a:ext cx="859536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📋 Document Organization</a:t>
            </a:r>
          </a:p>
          <a:p>
            <a:pPr>
              <a:spcBef>
                <a:spcPts val="600"/>
              </a:spcBef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  → Use descriptive titles, complete metadata, consistent naming</a:t>
            </a:r>
          </a:p>
          <a:p>
            <a:pPr>
              <a:spcBef>
                <a:spcPts val="600"/>
              </a:spcBef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🔍 Search Optimization</a:t>
            </a:r>
          </a:p>
          <a:p>
            <a:pPr>
              <a:spcBef>
                <a:spcPts val="600"/>
              </a:spcBef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  → Natural language queries, multiple phrasings, use filters</a:t>
            </a:r>
          </a:p>
          <a:p>
            <a:pPr>
              <a:spcBef>
                <a:spcPts val="600"/>
              </a:spcBef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👥 Team Adoption</a:t>
            </a:r>
          </a:p>
          <a:p>
            <a:pPr>
              <a:spcBef>
                <a:spcPts val="600"/>
              </a:spcBef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  → Training sessions, champion power users, weekly wins</a:t>
            </a:r>
          </a:p>
          <a:p>
            <a:pPr>
              <a:spcBef>
                <a:spcPts val="600"/>
              </a:spcBef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🎯 Knowledge Governance</a:t>
            </a:r>
          </a:p>
          <a:p>
            <a:pPr>
              <a:spcBef>
                <a:spcPts val="600"/>
              </a:spcBef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  → Documentation standards, contribution process, quality control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5490"/>
          </a:solidFill>
          <a:ln>
            <a:solidFill>
              <a:srgbClr val="1A5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Scenario 1: Proposal Development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005840"/>
            <a:ext cx="859536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📝 Faster, more informed client proposals</a:t>
            </a:r>
          </a:p>
          <a:p>
            <a:pPr>
              <a:spcBef>
                <a:spcPts val="600"/>
              </a:spcBef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Without Liqueo:</a:t>
            </a:r>
          </a:p>
          <a:p>
            <a:pPr>
              <a:spcBef>
                <a:spcPts val="600"/>
              </a:spcBef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  • 4-6 hours manual research</a:t>
            </a:r>
          </a:p>
          <a:p>
            <a:pPr>
              <a:spcBef>
                <a:spcPts val="600"/>
              </a:spcBef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  • Find 2-3 related engagements</a:t>
            </a:r>
          </a:p>
          <a:p>
            <a:pPr>
              <a:spcBef>
                <a:spcPts val="600"/>
              </a:spcBef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  • Incomplete precedent knowledge</a:t>
            </a:r>
          </a:p>
          <a:p>
            <a:pPr>
              <a:spcBef>
                <a:spcPts val="600"/>
              </a:spcBef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With Liqueo:</a:t>
            </a:r>
          </a:p>
          <a:p>
            <a:pPr>
              <a:spcBef>
                <a:spcPts val="600"/>
              </a:spcBef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  • 30 minutes to find 15+ precedents</a:t>
            </a:r>
          </a:p>
          <a:p>
            <a:pPr>
              <a:spcBef>
                <a:spcPts val="600"/>
              </a:spcBef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  • Industry analysis in 5 minutes</a:t>
            </a:r>
          </a:p>
          <a:p>
            <a:pPr>
              <a:spcBef>
                <a:spcPts val="600"/>
              </a:spcBef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  • Higher win probability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5490"/>
          </a:solidFill>
          <a:ln>
            <a:solidFill>
              <a:srgbClr val="1A5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Scenario 2: New Consultant Onboarding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005840"/>
            <a:ext cx="859536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🎓 Accelerate new consultant productivity</a:t>
            </a:r>
          </a:p>
          <a:p>
            <a:pPr>
              <a:spcBef>
                <a:spcPts val="600"/>
              </a:spcBef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Traditional: 2-3 months to full ramp</a:t>
            </a:r>
          </a:p>
          <a:p>
            <a:pPr>
              <a:spcBef>
                <a:spcPts val="600"/>
              </a:spcBef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  • Senior mentoring time</a:t>
            </a:r>
          </a:p>
          <a:p>
            <a:pPr>
              <a:spcBef>
                <a:spcPts val="600"/>
              </a:spcBef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  • Learning from scattered resources</a:t>
            </a:r>
          </a:p>
          <a:p>
            <a:pPr>
              <a:spcBef>
                <a:spcPts val="600"/>
              </a:spcBef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With Liqueo: 1 week to productivity</a:t>
            </a:r>
          </a:p>
          <a:p>
            <a:pPr>
              <a:spcBef>
                <a:spcPts val="600"/>
              </a:spcBef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  • Self-directed case study review</a:t>
            </a:r>
          </a:p>
          <a:p>
            <a:pPr>
              <a:spcBef>
                <a:spcPts val="600"/>
              </a:spcBef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  • Industry pattern discovery</a:t>
            </a:r>
          </a:p>
          <a:p>
            <a:pPr>
              <a:spcBef>
                <a:spcPts val="600"/>
              </a:spcBef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  • Mentoring focused on nuances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5490"/>
          </a:solidFill>
          <a:ln>
            <a:solidFill>
              <a:srgbClr val="1A5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Scenario 3: Competitive Response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005840"/>
            <a:ext cx="859536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⚡ Respond to opportunities in hours</a:t>
            </a:r>
          </a:p>
          <a:p>
            <a:pPr>
              <a:spcBef>
                <a:spcPts val="600"/>
              </a:spcBef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Client: 'Can you do what Competitor X proposed?'</a:t>
            </a:r>
          </a:p>
          <a:p>
            <a:pPr>
              <a:spcBef>
                <a:spcPts val="600"/>
              </a:spcBef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Without Liqueo: 1-2 hours scrambling</a:t>
            </a:r>
          </a:p>
          <a:p>
            <a:pPr>
              <a:spcBef>
                <a:spcPts val="600"/>
              </a:spcBef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Without clear answer</a:t>
            </a:r>
          </a:p>
          <a:p>
            <a:pPr>
              <a:spcBef>
                <a:spcPts val="600"/>
              </a:spcBef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With Liqueo: 30 minutes</a:t>
            </a:r>
          </a:p>
          <a:p>
            <a:pPr>
              <a:spcBef>
                <a:spcPts val="600"/>
              </a:spcBef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Confident response with 3-4 relevant precedents</a:t>
            </a:r>
          </a:p>
          <a:p>
            <a:pPr>
              <a:spcBef>
                <a:spcPts val="600"/>
              </a:spcBef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Demonstrated deep relevant expertise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5490"/>
          </a:solidFill>
          <a:ln>
            <a:solidFill>
              <a:srgbClr val="1A5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Performance &amp; Specifications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005840"/>
            <a:ext cx="859536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⚡ Performance Benchmarks</a:t>
            </a:r>
          </a:p>
          <a:p>
            <a:pPr>
              <a:spcBef>
                <a:spcPts val="600"/>
              </a:spcBef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  • Search response: &lt;5 seconds</a:t>
            </a:r>
          </a:p>
          <a:p>
            <a:pPr>
              <a:spcBef>
                <a:spcPts val="600"/>
              </a:spcBef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  • Semantic accuracy: 85-95%</a:t>
            </a:r>
          </a:p>
          <a:p>
            <a:pPr>
              <a:spcBef>
                <a:spcPts val="600"/>
              </a:spcBef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  • Document processing: 1-10 seconds</a:t>
            </a:r>
          </a:p>
          <a:p>
            <a:pPr>
              <a:spcBef>
                <a:spcPts val="600"/>
              </a:spcBef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📦 Scalability</a:t>
            </a:r>
          </a:p>
          <a:p>
            <a:pPr>
              <a:spcBef>
                <a:spcPts val="600"/>
              </a:spcBef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  • Single machine: 10,000+ documents</a:t>
            </a:r>
          </a:p>
          <a:p>
            <a:pPr>
              <a:spcBef>
                <a:spcPts val="600"/>
              </a:spcBef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  • Storage: Limited by disk capacity</a:t>
            </a:r>
          </a:p>
          <a:p>
            <a:pPr>
              <a:spcBef>
                <a:spcPts val="600"/>
              </a:spcBef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  • Concurrent users: 1-3 (local), 100+ (web)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5490"/>
          </a:solidFill>
          <a:ln>
            <a:solidFill>
              <a:srgbClr val="1A5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Common Issues &amp; Solutions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005840"/>
            <a:ext cx="859536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❌ Streamlit won't launch</a:t>
            </a:r>
          </a:p>
          <a:p>
            <a:pPr>
              <a:spcBef>
                <a:spcPts val="600"/>
              </a:spcBef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  → Verify Python 3.8+, check port 8501</a:t>
            </a:r>
          </a:p>
          <a:p>
            <a:pPr>
              <a:spcBef>
                <a:spcPts val="600"/>
              </a:spcBef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❌ API key errors</a:t>
            </a:r>
          </a:p>
          <a:p>
            <a:pPr>
              <a:spcBef>
                <a:spcPts val="600"/>
              </a:spcBef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  → Verify .env file, check key validity</a:t>
            </a:r>
          </a:p>
          <a:p>
            <a:pPr>
              <a:spcBef>
                <a:spcPts val="600"/>
              </a:spcBef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❌ Search results irrelevant</a:t>
            </a:r>
          </a:p>
          <a:p>
            <a:pPr>
              <a:spcBef>
                <a:spcPts val="600"/>
              </a:spcBef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  → Add more documents, try different queries</a:t>
            </a:r>
          </a:p>
          <a:p>
            <a:pPr>
              <a:spcBef>
                <a:spcPts val="600"/>
              </a:spcBef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❌ Slow performance</a:t>
            </a:r>
          </a:p>
          <a:p>
            <a:pPr>
              <a:spcBef>
                <a:spcPts val="600"/>
              </a:spcBef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  → Reduce result count, use industry filter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5490"/>
          </a:solidFill>
          <a:ln>
            <a:solidFill>
              <a:srgbClr val="1A5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FAQs - Part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005840"/>
            <a:ext cx="859536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Q: Can I use without APIs?</a:t>
            </a:r>
          </a:p>
          <a:p>
            <a:pPr>
              <a:spcBef>
                <a:spcPts val="600"/>
              </a:spcBef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A: Yes, Manual Mode with keyword search</a:t>
            </a:r>
          </a:p>
          <a:p>
            <a:pPr>
              <a:spcBef>
                <a:spcPts val="600"/>
              </a:spcBef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Q: How secure is my data?</a:t>
            </a:r>
          </a:p>
          <a:p>
            <a:pPr>
              <a:spcBef>
                <a:spcPts val="600"/>
              </a:spcBef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A: Local storage only, no external data transfer</a:t>
            </a:r>
          </a:p>
          <a:p>
            <a:pPr>
              <a:spcBef>
                <a:spcPts val="600"/>
              </a:spcBef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Q: How many engagements can I store?</a:t>
            </a:r>
          </a:p>
          <a:p>
            <a:pPr>
              <a:spcBef>
                <a:spcPts val="600"/>
              </a:spcBef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A: 10,000+ on single machine</a:t>
            </a:r>
          </a:p>
          <a:p>
            <a:pPr>
              <a:spcBef>
                <a:spcPts val="600"/>
              </a:spcBef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Q: Can multiple people use it?</a:t>
            </a:r>
          </a:p>
          <a:p>
            <a:pPr>
              <a:spcBef>
                <a:spcPts val="600"/>
              </a:spcBef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A: 1-3 concurrent (local), 100+ (web deployment)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5490"/>
          </a:solidFill>
          <a:ln>
            <a:solidFill>
              <a:srgbClr val="1A5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FAQs - Part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005840"/>
            <a:ext cx="859536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Q: What if search quality is poor?</a:t>
            </a:r>
          </a:p>
          <a:p>
            <a:pPr>
              <a:spcBef>
                <a:spcPts val="600"/>
              </a:spcBef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A: Add more documents, use better queries</a:t>
            </a:r>
          </a:p>
          <a:p>
            <a:pPr>
              <a:spcBef>
                <a:spcPts val="600"/>
              </a:spcBef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Q: Can I export data?</a:t>
            </a:r>
          </a:p>
          <a:p>
            <a:pPr>
              <a:spcBef>
                <a:spcPts val="600"/>
              </a:spcBef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A: Yes, JSON format, easy backup/restore</a:t>
            </a:r>
          </a:p>
          <a:p>
            <a:pPr>
              <a:spcBef>
                <a:spcPts val="600"/>
              </a:spcBef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Q: Is there CRM integration?</a:t>
            </a:r>
          </a:p>
          <a:p>
            <a:pPr>
              <a:spcBef>
                <a:spcPts val="600"/>
              </a:spcBef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A: Phase 5 roadmap includes Salesforce/HubSpot</a:t>
            </a:r>
          </a:p>
          <a:p>
            <a:pPr>
              <a:spcBef>
                <a:spcPts val="600"/>
              </a:spcBef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Q: How do I remove sensitive data?</a:t>
            </a:r>
          </a:p>
          <a:p>
            <a:pPr>
              <a:spcBef>
                <a:spcPts val="600"/>
              </a:spcBef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A: Delete engagement record - instantly removed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5490"/>
          </a:solidFill>
          <a:ln>
            <a:solidFill>
              <a:srgbClr val="1A5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8-Phase Production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005840"/>
            <a:ext cx="859536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Phase 1 (Weeks 1-4): Infrastructure</a:t>
            </a:r>
          </a:p>
          <a:p>
            <a:pPr>
              <a:spcBef>
                <a:spcPts val="600"/>
              </a:spcBef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  → Vector DB, batch processing, caching</a:t>
            </a:r>
          </a:p>
          <a:p>
            <a:pPr>
              <a:spcBef>
                <a:spcPts val="600"/>
              </a:spcBef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Phase 2 (Weeks 5-8): Advanced Parsing</a:t>
            </a:r>
          </a:p>
          <a:p>
            <a:pPr>
              <a:spcBef>
                <a:spcPts val="600"/>
              </a:spcBef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  → PDF/Word/Image extraction, OCR</a:t>
            </a:r>
          </a:p>
          <a:p>
            <a:pPr>
              <a:spcBef>
                <a:spcPts val="600"/>
              </a:spcBef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Phase 3 (Weeks 9-12): Collaboration</a:t>
            </a:r>
          </a:p>
          <a:p>
            <a:pPr>
              <a:spcBef>
                <a:spcPts val="600"/>
              </a:spcBef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  → Multi-user auth, permissions, sharing</a:t>
            </a:r>
          </a:p>
          <a:p>
            <a:pPr>
              <a:spcBef>
                <a:spcPts val="600"/>
              </a:spcBef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Phase 4 (Weeks 13-16): Intelligence</a:t>
            </a:r>
          </a:p>
          <a:p>
            <a:pPr>
              <a:spcBef>
                <a:spcPts val="600"/>
              </a:spcBef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  → Custom models, templates, advanced search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5490"/>
          </a:solidFill>
          <a:ln>
            <a:solidFill>
              <a:srgbClr val="1A5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Roadmap Continued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005840"/>
            <a:ext cx="859536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Phase 5 (Weeks 17-24): Integration</a:t>
            </a:r>
          </a:p>
          <a:p>
            <a:pPr>
              <a:spcBef>
                <a:spcPts val="600"/>
              </a:spcBef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  → CRM, Slack, Teams, REST API</a:t>
            </a:r>
          </a:p>
          <a:p>
            <a:pPr>
              <a:spcBef>
                <a:spcPts val="600"/>
              </a:spcBef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Phase 6 (Weeks 25-28): Reporting</a:t>
            </a:r>
          </a:p>
          <a:p>
            <a:pPr>
              <a:spcBef>
                <a:spcPts val="600"/>
              </a:spcBef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  → PDF, PowerPoint, Excel export</a:t>
            </a:r>
          </a:p>
          <a:p>
            <a:pPr>
              <a:spcBef>
                <a:spcPts val="600"/>
              </a:spcBef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Phase 7 (Weeks 29-32): Analytics</a:t>
            </a:r>
          </a:p>
          <a:p>
            <a:pPr>
              <a:spcBef>
                <a:spcPts val="600"/>
              </a:spcBef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  → Dashboards, ROI calculator, adoption metrics</a:t>
            </a:r>
          </a:p>
          <a:p>
            <a:pPr>
              <a:spcBef>
                <a:spcPts val="600"/>
              </a:spcBef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Phase 8 (Weeks 33+): Enterprise</a:t>
            </a:r>
          </a:p>
          <a:p>
            <a:pPr>
              <a:spcBef>
                <a:spcPts val="600"/>
              </a:spcBef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  → Cloud deployment, encryption, audit logging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5490"/>
          </a:solidFill>
          <a:ln>
            <a:solidFill>
              <a:srgbClr val="1A5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Cost Analysis &amp; ROI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005840"/>
            <a:ext cx="859536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💰 Annual Benefits (100-person consulting firm)</a:t>
            </a:r>
          </a:p>
          <a:p>
            <a:pPr>
              <a:spcBef>
                <a:spcPts val="600"/>
              </a:spcBef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Research Phase: $600K - $1.2M</a:t>
            </a:r>
          </a:p>
          <a:p>
            <a:pPr>
              <a:spcBef>
                <a:spcPts val="600"/>
              </a:spcBef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Onboarding: $300K - $500K</a:t>
            </a:r>
          </a:p>
          <a:p>
            <a:pPr>
              <a:spcBef>
                <a:spcPts val="600"/>
              </a:spcBef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Proposal Quality: $400K - $800K</a:t>
            </a:r>
          </a:p>
          <a:p>
            <a:pPr>
              <a:spcBef>
                <a:spcPts val="600"/>
              </a:spcBef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Consulting Efficiency: $1.2M - $2M</a:t>
            </a:r>
          </a:p>
          <a:p>
            <a:pPr>
              <a:spcBef>
                <a:spcPts val="600"/>
              </a:spcBef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Knowledge Retention: $500K - $800K</a:t>
            </a:r>
          </a:p>
          <a:p>
            <a:pPr>
              <a:spcBef>
                <a:spcPts val="600"/>
              </a:spcBef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Total Annual Value: $3.4M - $5.3M</a:t>
            </a:r>
          </a:p>
          <a:p>
            <a:pPr>
              <a:spcBef>
                <a:spcPts val="600"/>
              </a:spcBef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Payback Period: 2-4 weeks!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5490"/>
          </a:solidFill>
          <a:ln>
            <a:solidFill>
              <a:srgbClr val="1A5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Phased Implementation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005840"/>
            <a:ext cx="859536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Week 1: Pilot with 1 consultant</a:t>
            </a:r>
          </a:p>
          <a:p>
            <a:pPr>
              <a:spcBef>
                <a:spcPts val="600"/>
              </a:spcBef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  → Setup, config, test with 10-20 engagements</a:t>
            </a:r>
          </a:p>
          <a:p>
            <a:pPr>
              <a:spcBef>
                <a:spcPts val="600"/>
              </a:spcBef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Week 2: Small team (3-5 users)</a:t>
            </a:r>
          </a:p>
          <a:p>
            <a:pPr>
              <a:spcBef>
                <a:spcPts val="600"/>
              </a:spcBef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  → Training, standards, expand to 30-50 engagements</a:t>
            </a:r>
          </a:p>
          <a:p>
            <a:pPr>
              <a:spcBef>
                <a:spcPts val="600"/>
              </a:spcBef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Weeks 3-4: Department (20-30 users)</a:t>
            </a:r>
          </a:p>
          <a:p>
            <a:pPr>
              <a:spcBef>
                <a:spcPts val="600"/>
              </a:spcBef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  → Full training, governance, 100+ engagements</a:t>
            </a:r>
          </a:p>
          <a:p>
            <a:pPr>
              <a:spcBef>
                <a:spcPts val="600"/>
              </a:spcBef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Month 2+: Firm-wide</a:t>
            </a:r>
          </a:p>
          <a:p>
            <a:pPr>
              <a:spcBef>
                <a:spcPts val="600"/>
              </a:spcBef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  → All consultants, measure impact, plan Phase 1 features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5490"/>
          </a:solidFill>
          <a:ln>
            <a:solidFill>
              <a:srgbClr val="1A5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Success Metrics &amp; KPIs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005840"/>
            <a:ext cx="859536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📊 Track these metrics</a:t>
            </a:r>
          </a:p>
          <a:p>
            <a:pPr>
              <a:spcBef>
                <a:spcPts val="600"/>
              </a:spcBef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Adoption: 70%+ active users within 6 months</a:t>
            </a:r>
          </a:p>
          <a:p>
            <a:pPr>
              <a:spcBef>
                <a:spcPts val="600"/>
              </a:spcBef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Usage: 3-5 searches/week/user</a:t>
            </a:r>
          </a:p>
          <a:p>
            <a:pPr>
              <a:spcBef>
                <a:spcPts val="600"/>
              </a:spcBef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Efficiency: &lt;5 min average search time</a:t>
            </a:r>
          </a:p>
          <a:p>
            <a:pPr>
              <a:spcBef>
                <a:spcPts val="600"/>
              </a:spcBef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Quality: 4+ star consultant satisfaction</a:t>
            </a:r>
          </a:p>
          <a:p>
            <a:pPr>
              <a:spcBef>
                <a:spcPts val="600"/>
              </a:spcBef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Business Impact:</a:t>
            </a:r>
          </a:p>
          <a:p>
            <a:pPr>
              <a:spcBef>
                <a:spcPts val="600"/>
              </a:spcBef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  • +10% proposal win rate improvement</a:t>
            </a:r>
          </a:p>
          <a:p>
            <a:pPr>
              <a:spcBef>
                <a:spcPts val="600"/>
              </a:spcBef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  • -10% project delivery time reduction</a:t>
            </a:r>
          </a:p>
          <a:p>
            <a:pPr>
              <a:spcBef>
                <a:spcPts val="600"/>
              </a:spcBef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  • +15% consultant productivity increase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5490"/>
          </a:solidFill>
          <a:ln>
            <a:solidFill>
              <a:srgbClr val="1A5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Security &amp;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005840"/>
            <a:ext cx="859536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🔒 Data Protection Best Practices</a:t>
            </a:r>
          </a:p>
          <a:p>
            <a:pPr>
              <a:spcBef>
                <a:spcPts val="600"/>
              </a:spcBef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• Local storage - no vendor lock-in</a:t>
            </a:r>
          </a:p>
          <a:p>
            <a:pPr>
              <a:spcBef>
                <a:spcPts val="600"/>
              </a:spcBef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• Optional encryption for sensitive data</a:t>
            </a:r>
          </a:p>
          <a:p>
            <a:pPr>
              <a:spcBef>
                <a:spcPts val="600"/>
              </a:spcBef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• Redact PII before uploading</a:t>
            </a:r>
          </a:p>
          <a:p>
            <a:pPr>
              <a:spcBef>
                <a:spcPts val="600"/>
              </a:spcBef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• Regular backups of knowledge base</a:t>
            </a:r>
          </a:p>
          <a:p>
            <a:pPr>
              <a:spcBef>
                <a:spcPts val="600"/>
              </a:spcBef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• Access control via file permissions</a:t>
            </a:r>
          </a:p>
          <a:p>
            <a:pPr>
              <a:spcBef>
                <a:spcPts val="600"/>
              </a:spcBef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✓ Ready for consulting industry standards</a:t>
            </a:r>
          </a:p>
          <a:p>
            <a:pPr>
              <a:spcBef>
                <a:spcPts val="600"/>
              </a:spcBef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✓ SOC2/HIPAA compliant governance (Phase 8)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5490"/>
          </a:solidFill>
          <a:ln>
            <a:solidFill>
              <a:srgbClr val="1A5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Week 1: Immediate Actions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005840"/>
            <a:ext cx="859536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✓ Designate pilot user</a:t>
            </a:r>
          </a:p>
          <a:p>
            <a:pPr>
              <a:spcBef>
                <a:spcPts val="600"/>
              </a:spcBef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✓ Clone repository from GitHub</a:t>
            </a:r>
          </a:p>
          <a:p>
            <a:pPr>
              <a:spcBef>
                <a:spcPts val="600"/>
              </a:spcBef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✓ Install dependencies (pip install)</a:t>
            </a:r>
          </a:p>
          <a:p>
            <a:pPr>
              <a:spcBef>
                <a:spcPts val="600"/>
              </a:spcBef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✓ Obtain API keys (OpenAI/Anthropic)</a:t>
            </a:r>
          </a:p>
          <a:p>
            <a:pPr>
              <a:spcBef>
                <a:spcPts val="600"/>
              </a:spcBef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✓ Configure .env file</a:t>
            </a:r>
          </a:p>
          <a:p>
            <a:pPr>
              <a:spcBef>
                <a:spcPts val="600"/>
              </a:spcBef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✓ Launch system (streamlit run app.py)</a:t>
            </a:r>
          </a:p>
          <a:p>
            <a:pPr>
              <a:spcBef>
                <a:spcPts val="600"/>
              </a:spcBef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✓ Test with 5-10 sample engagements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5490"/>
          </a:solidFill>
          <a:ln>
            <a:solidFill>
              <a:srgbClr val="1A5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Next Month: Expansion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005840"/>
            <a:ext cx="859536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✓ Week 2: Onboard 3-5 power users</a:t>
            </a:r>
          </a:p>
          <a:p>
            <a:pPr>
              <a:spcBef>
                <a:spcPts val="600"/>
              </a:spcBef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✓ Weeks 3-4: Deploy to entire department</a:t>
            </a:r>
          </a:p>
          <a:p>
            <a:pPr>
              <a:spcBef>
                <a:spcPts val="600"/>
              </a:spcBef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✓ Month 2: Roll out firm-wide</a:t>
            </a:r>
          </a:p>
          <a:p>
            <a:pPr>
              <a:spcBef>
                <a:spcPts val="600"/>
              </a:spcBef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✓ Ongoing: Measure adoption &amp; impact</a:t>
            </a:r>
          </a:p>
          <a:p>
            <a:pPr>
              <a:spcBef>
                <a:spcPts val="600"/>
              </a:spcBef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✓ Month 3: Plan Phase 1 roadmap features</a:t>
            </a:r>
          </a:p>
          <a:p>
            <a:pPr>
              <a:spcBef>
                <a:spcPts val="600"/>
              </a:spcBef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Expected Outcome: $3M+ annual value realized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549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Get Started Today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>
                <a:solidFill>
                  <a:srgbClr val="FFFFFF"/>
                </a:solidFill>
              </a:defRPr>
            </a:pPr>
            <a:r>
              <a:t>Transform Your Consulting with AI-Powered Knowledge Discovery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